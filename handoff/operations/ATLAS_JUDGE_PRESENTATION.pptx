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b863b762b848af" /><Relationship Type="http://schemas.openxmlformats.org/officeDocument/2006/relationships/extended-properties" Target="/docProps/app.xml" Id="R28ad14fb186144d1" /><Relationship Type="http://schemas.openxmlformats.org/officeDocument/2006/relationships/officeDocument" Target="/ppt/presentation.xml" Id="Rd7075712d4f24c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0fd5c4771c44bf"/>
  </p:sldMasterIdLst>
  <p:notesMasterIdLst>
    <p:notesMasterId xmlns:r="http://schemas.openxmlformats.org/officeDocument/2006/relationships" r:id="R1af18cbaaaa34368"/>
  </p:notesMasterIdLst>
  <p:sldIdLst>
    <p:sldId xmlns:r="http://schemas.openxmlformats.org/officeDocument/2006/relationships" id="256" r:id="R21df2074285547bb"/>
    <p:sldId xmlns:r="http://schemas.openxmlformats.org/officeDocument/2006/relationships" id="257" r:id="R34ef1b58a0544831"/>
    <p:sldId xmlns:r="http://schemas.openxmlformats.org/officeDocument/2006/relationships" id="258" r:id="R0e23e6dfa4cd42f2"/>
    <p:sldId xmlns:r="http://schemas.openxmlformats.org/officeDocument/2006/relationships" id="259" r:id="R7e3e2fd1c7514c66"/>
    <p:sldId xmlns:r="http://schemas.openxmlformats.org/officeDocument/2006/relationships" id="260" r:id="Rd0aa63c6a8db457a"/>
    <p:sldId xmlns:r="http://schemas.openxmlformats.org/officeDocument/2006/relationships" id="261" r:id="Rfbf70495839e4f99"/>
    <p:sldId xmlns:r="http://schemas.openxmlformats.org/officeDocument/2006/relationships" id="262" r:id="Rd6d0bbf848cd41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43bab91ca046d3" /><Relationship Type="http://schemas.openxmlformats.org/officeDocument/2006/relationships/slideMaster" Target="/ppt/slideMasters/slideMaster1.xml" Id="R190fd5c4771c44bf" /><Relationship Type="http://schemas.openxmlformats.org/officeDocument/2006/relationships/notesMaster" Target="/ppt/notesMasters/notesMaster1.xml" Id="R1af18cbaaaa34368" /><Relationship Type="http://schemas.openxmlformats.org/officeDocument/2006/relationships/presProps" Target="/ppt/presProps.xml" Id="R92d4065c19ea4c8e" /><Relationship Type="http://schemas.openxmlformats.org/officeDocument/2006/relationships/tableStyles" Target="/ppt/tableStyles.xml" Id="R2993b4326bfc45ed" /><Relationship Type="http://schemas.openxmlformats.org/officeDocument/2006/relationships/slide" Target="/ppt/slides/slide1.xml" Id="R21df2074285547bb" /><Relationship Type="http://schemas.openxmlformats.org/officeDocument/2006/relationships/slide" Target="/ppt/slides/slide2.xml" Id="R34ef1b58a0544831" /><Relationship Type="http://schemas.openxmlformats.org/officeDocument/2006/relationships/slide" Target="/ppt/slides/slide3.xml" Id="R0e23e6dfa4cd42f2" /><Relationship Type="http://schemas.openxmlformats.org/officeDocument/2006/relationships/slide" Target="/ppt/slides/slide4.xml" Id="R7e3e2fd1c7514c66" /><Relationship Type="http://schemas.openxmlformats.org/officeDocument/2006/relationships/slide" Target="/ppt/slides/slide5.xml" Id="Rd0aa63c6a8db457a" /><Relationship Type="http://schemas.openxmlformats.org/officeDocument/2006/relationships/slide" Target="/ppt/slides/slide6.xml" Id="Rfbf70495839e4f99" /><Relationship Type="http://schemas.openxmlformats.org/officeDocument/2006/relationships/slide" Target="/ppt/slides/slide7.xml" Id="Rd6d0bbf848cd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d569eced0d41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00065f164c4bfa" /><Relationship Type="http://schemas.openxmlformats.org/officeDocument/2006/relationships/notesMaster" Target="/ppt/notesMasters/notesMaster1.xml" Id="R370a144986f242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5fcccb252e4cd3" /><Relationship Type="http://schemas.openxmlformats.org/officeDocument/2006/relationships/notesMaster" Target="/ppt/notesMasters/notesMaster1.xml" Id="Rd8022752e0ae47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23034b1e504567" /><Relationship Type="http://schemas.openxmlformats.org/officeDocument/2006/relationships/notesMaster" Target="/ppt/notesMasters/notesMaster1.xml" Id="Rdbba756f14d745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29130dde2a499b" /><Relationship Type="http://schemas.openxmlformats.org/officeDocument/2006/relationships/notesMaster" Target="/ppt/notesMasters/notesMaster1.xml" Id="R765c4a7efaa646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10922c649941f7" /><Relationship Type="http://schemas.openxmlformats.org/officeDocument/2006/relationships/notesMaster" Target="/ppt/notesMasters/notesMaster1.xml" Id="R403014628c9c49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b9ac421dbc43cc" /><Relationship Type="http://schemas.openxmlformats.org/officeDocument/2006/relationships/notesMaster" Target="/ppt/notesMasters/notesMaster1.xml" Id="R8eff9081f8c64a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82b14782024587" /><Relationship Type="http://schemas.openxmlformats.org/officeDocument/2006/relationships/notesMaster" Target="/ppt/notesMasters/notesMaster1.xml" Id="R6aaa317c247944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visitor problem, not the technology list.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README.md: project identity, team, competition, and positioning.</a:t>
            </a:r>
          </a:p>
          <a:p xmlns:a="http://schemas.openxmlformats.org/drawingml/2006/main">
            <a:r>
              <a:t>- website/assets/great-wave.webp: project-packaged artwork asset.</a:t>
            </a:r>
          </a:p>
          <a:p xmlns:a="http://schemas.openxmlformats.org/drawingml/2006/main">
            <a:r>
              <a:t>- website/assets/atlas-logo.webp: ATLAS 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one example: ask who created the Mona Lisa, then ask what other famous paintings he made.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README.md: artwork recognition, visitor preferences, and short-term conversational context.</a:t>
            </a:r>
          </a:p>
          <a:p xmlns:a="http://schemas.openxmlformats.org/drawingml/2006/main">
            <a:r>
              <a:t>- handoff/operations/DEMO_SCRIPT.md: contextual follow-up demonstration.</a:t>
            </a:r>
          </a:p>
          <a:p xmlns:a="http://schemas.openxmlformats.org/drawingml/2006/main">
            <a:r>
              <a:t>- website/assets/mona-lisa.webp: project-packaged artwork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this as one interaction cycle rather than four disconnected features.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handoff/architecture/SYSTEM_ARCHITECTURE.md: camera, vision, speech, retrieval, dialogue, and TTS sequence.</a:t>
            </a:r>
          </a:p>
          <a:p xmlns:a="http://schemas.openxmlformats.org/drawingml/2006/main">
            <a:r>
              <a:t>- website/assets/stories.webp, technique.webp, and symbols.webp: project artwork-category assets.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this sequence live; if recovery takes more than 30 seconds, move to the prerecorded video.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handoff/operations/DEMO_SCRIPT.md: exact live sequence and recovery branches.</a:t>
            </a:r>
          </a:p>
          <a:p xmlns:a="http://schemas.openxmlformats.org/drawingml/2006/main">
            <a:r>
              <a:t>- website/assets/stories.webp: project artwork-category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boundary clearly: ATLAS is edge-oriented, not fully offline today.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handoff/architecture/SYSTEM_ARCHITECTURE.md: pipeline, run modes, and cloud-service boundary.</a:t>
            </a:r>
          </a:p>
          <a:p xmlns:a="http://schemas.openxmlformats.org/drawingml/2006/main">
            <a:r>
              <a:t>- handoff/policies/: disclosure and privacy model.</a:t>
            </a:r>
          </a:p>
          <a:p xmlns:a="http://schemas.openxmlformats.org/drawingml/2006/main">
            <a:r>
              <a:t>- website/assets/atlas-logo.webp: ATLAS 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laptop checks as proof of hardware behavior; name the physical acceptance items.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handoff/operations/RELEASE_EVIDENCE_2026-08-30.md: 303 tests, 7 validated labels, and remaining checks.</a:t>
            </a:r>
          </a:p>
          <a:p xmlns:a="http://schemas.openxmlformats.org/drawingml/2006/main">
            <a:r>
              <a:t>- atlas/scripts/deploy/DEPLOY_ATLAS_VISITOR_IMPROVEMENTS.ps1: one-command deployment and rollback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visitor experience, then invite questions or begin the live demo.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handoff/operations/DEMO_SCRIPT.md: approved closing line.</a:t>
            </a:r>
          </a:p>
          <a:p xmlns:a="http://schemas.openxmlformats.org/drawingml/2006/main">
            <a:r>
              <a:t>- website/assets/ambassadors.webp: project-packaged artwork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a54bfcf6164c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9b2329506c4e2e" /><Relationship Type="http://schemas.openxmlformats.org/officeDocument/2006/relationships/slideLayout" Target="/ppt/slideLayouts/slideLayout1.xml" Id="R36b9e1db2c374f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b9e1db2c374f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fe0b3d3f9421d" /><Relationship Type="http://schemas.openxmlformats.org/officeDocument/2006/relationships/image" Target="/ppt/media/image.bin" Id="R3bb04bb7ed8d4ae7" /><Relationship Type="http://schemas.openxmlformats.org/officeDocument/2006/relationships/image" Target="/ppt/media/image2.bin" Id="R6a32137d1a9840dc" /><Relationship Type="http://schemas.openxmlformats.org/officeDocument/2006/relationships/notesSlide" Target="/ppt/notesSlides/notesSlide1.xml" Id="R851c7a9c0c7c40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d918d3c8d4086" /><Relationship Type="http://schemas.openxmlformats.org/officeDocument/2006/relationships/image" Target="/ppt/media/image3.bin" Id="R42c6ccd584424500" /><Relationship Type="http://schemas.openxmlformats.org/officeDocument/2006/relationships/notesSlide" Target="/ppt/notesSlides/notesSlide2.xml" Id="Rbf86f52db67248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58d7456f1455c" /><Relationship Type="http://schemas.openxmlformats.org/officeDocument/2006/relationships/image" Target="/ppt/media/image4.bin" Id="R893ef4e2b7f44b90" /><Relationship Type="http://schemas.openxmlformats.org/officeDocument/2006/relationships/image" Target="/ppt/media/image5.bin" Id="Rdfe82e08f37e4bc9" /><Relationship Type="http://schemas.openxmlformats.org/officeDocument/2006/relationships/image" Target="/ppt/media/image6.bin" Id="Rcbb38553e8ab4f80" /><Relationship Type="http://schemas.openxmlformats.org/officeDocument/2006/relationships/notesSlide" Target="/ppt/notesSlides/notesSlide3.xml" Id="Rf6d9f72c97c24e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f34e32f0b4b70" /><Relationship Type="http://schemas.openxmlformats.org/officeDocument/2006/relationships/image" Target="/ppt/media/image7.bin" Id="Rfca1032941cf49aa" /><Relationship Type="http://schemas.openxmlformats.org/officeDocument/2006/relationships/notesSlide" Target="/ppt/notesSlides/notesSlide4.xml" Id="R32b9d6953e6b42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d107248e544da" /><Relationship Type="http://schemas.openxmlformats.org/officeDocument/2006/relationships/image" Target="/ppt/media/image8.bin" Id="Rc71f1045227c4210" /><Relationship Type="http://schemas.openxmlformats.org/officeDocument/2006/relationships/notesSlide" Target="/ppt/notesSlides/notesSlide5.xml" Id="Rc4a1e56c343a46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84a0f95f64344" /><Relationship Type="http://schemas.openxmlformats.org/officeDocument/2006/relationships/notesSlide" Target="/ppt/notesSlides/notesSlide6.xml" Id="R134b7b91e63044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1767a360f48cd" /><Relationship Type="http://schemas.openxmlformats.org/officeDocument/2006/relationships/image" Target="/ppt/media/image9.bin" Id="Rb40f2b3a79974c99" /><Relationship Type="http://schemas.openxmlformats.org/officeDocument/2006/relationships/notesSlide" Target="/ppt/notesSlides/notesSlide7.xml" Id="Rcc623244410146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image-field">
            <a:extLst xmlns:a="http://schemas.openxmlformats.org/drawingml/2006/main">
              <a:ext uri="{FF2B5EF4-FFF2-40B4-BE49-F238E27FC236}">
                <a16:creationId xmlns:a16="http://schemas.microsoft.com/office/drawing/2014/main" id="{5628F188-EA9B-4ABF-8AAB-F5A81555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gold-rule">
            <a:extLst xmlns:a="http://schemas.openxmlformats.org/drawingml/2006/main">
              <a:ext uri="{FF2B5EF4-FFF2-40B4-BE49-F238E27FC236}">
                <a16:creationId xmlns:a16="http://schemas.microsoft.com/office/drawing/2014/main" id="{60EFE11D-06FC-4D22-BD44-85BECB55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A2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04bb7ed8d4ae7"/>
          <a:stretch xmlns:a="http://schemas.openxmlformats.org/drawingml/2006/main"/>
        </p:blipFill>
        <p:spPr>
          <a:xfrm xmlns:a="http://schemas.openxmlformats.org/drawingml/2006/main">
            <a:off x="6858000" y="1423988"/>
            <a:ext cx="5143500" cy="345757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2137d1a9840dc"/>
          <a:stretch xmlns:a="http://schemas.openxmlformats.org/drawingml/2006/main"/>
        </p:blipFill>
        <p:spPr>
          <a:xfrm xmlns:a="http://schemas.openxmlformats.org/drawingml/2006/main">
            <a:off x="533400" y="619441"/>
            <a:ext cx="971550" cy="647067"/>
          </a:xfrm>
          <a:prstGeom xmlns:a="http://schemas.openxmlformats.org/drawingml/2006/main" prst="rect">
            <a:avLst/>
          </a:prstGeom>
        </p:spPr>
      </p:pic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E6B0AA4-C43F-4EC5-A684-8F3BEAEB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4768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6600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ATLAS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27724EB-5F25-4AEB-BCD7-1565813D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538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A wearable AI museum guide</a:t>
            </a:r>
          </a:p>
        </p:txBody>
      </p:sp>
      <p:sp>
        <p:nvSpPr>
          <p:cNvPr id="7" name="cover-description">
            <a:extLst xmlns:a="http://schemas.openxmlformats.org/drawingml/2006/main">
              <a:ext uri="{FF2B5EF4-FFF2-40B4-BE49-F238E27FC236}">
                <a16:creationId xmlns:a16="http://schemas.microsoft.com/office/drawing/2014/main" id="{8B0293E0-C110-48DA-B852-04ED76D2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5286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ATLAS sees the artwork, listens to the visitor, and turns curiosity into a continuing conversation.</a:t>
            </a:r>
          </a:p>
        </p:txBody>
      </p:sp>
      <p:sp>
        <p:nvSpPr>
          <p:cNvPr id="8" name="cover-team">
            <a:extLst xmlns:a="http://schemas.openxmlformats.org/drawingml/2006/main">
              <a:ext uri="{FF2B5EF4-FFF2-40B4-BE49-F238E27FC236}">
                <a16:creationId xmlns:a16="http://schemas.microsoft.com/office/drawing/2014/main" id="{D83632A3-810C-4220-93C9-A5D0F98F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Team Touchdown  |  College Bourget</a:t>
            </a:r>
          </a:p>
        </p:txBody>
      </p:sp>
    </p:spTree>
    <p:extLst>
      <p:ext uri="{BB962C8B-B14F-4D97-AF65-F5344CB8AC3E}">
        <p14:creationId xmlns:p14="http://schemas.microsoft.com/office/powerpoint/2010/main" val="1185580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2">
            <a:extLst xmlns:a="http://schemas.openxmlformats.org/drawingml/2006/main">
              <a:ext uri="{FF2B5EF4-FFF2-40B4-BE49-F238E27FC236}">
                <a16:creationId xmlns:a16="http://schemas.microsoft.com/office/drawing/2014/main" id="{A0E89897-B19D-4499-BF80-22F59CB2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Museum labels stop where curiosity begins.</a:t>
            </a:r>
          </a:p>
        </p:txBody>
      </p:sp>
      <p:sp>
        <p:nvSpPr>
          <p:cNvPr id="2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AC98F25B-8806-45AC-B855-D3441476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A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mona-frame">
            <a:extLst xmlns:a="http://schemas.openxmlformats.org/drawingml/2006/main">
              <a:ext uri="{FF2B5EF4-FFF2-40B4-BE49-F238E27FC236}">
                <a16:creationId xmlns:a16="http://schemas.microsoft.com/office/drawing/2014/main" id="{534F48F5-A959-4440-AAE4-2CABC887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3815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c6ccd584424500"/>
          <a:stretch xmlns:a="http://schemas.openxmlformats.org/drawingml/2006/main"/>
        </p:blipFill>
        <p:spPr>
          <a:xfrm xmlns:a="http://schemas.openxmlformats.org/drawingml/2006/main">
            <a:off x="1363353" y="1885950"/>
            <a:ext cx="2721595" cy="4057650"/>
          </a:xfrm>
          <a:prstGeom xmlns:a="http://schemas.openxmlformats.org/drawingml/2006/main" prst="rect">
            <a:avLst/>
          </a:prstGeom>
        </p:spPr>
      </p:pic>
      <p:sp>
        <p:nvSpPr>
          <p:cNvPr id="5" name="problem-thesis">
            <a:extLst xmlns:a="http://schemas.openxmlformats.org/drawingml/2006/main">
              <a:ext uri="{FF2B5EF4-FFF2-40B4-BE49-F238E27FC236}">
                <a16:creationId xmlns:a16="http://schemas.microsoft.com/office/drawing/2014/main" id="{0BF19613-2F82-4B06-A5F2-D6BD6023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43100"/>
            <a:ext cx="619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35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ATLAS keeps the next question alive.</a:t>
            </a:r>
          </a:p>
        </p:txBody>
      </p:sp>
      <p:sp>
        <p:nvSpPr>
          <p:cNvPr id="6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4DC05188-4D98-47C2-822B-F6B732FE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43250"/>
            <a:ext cx="6096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It recognizes the artwork in view, adapts to the visitor's language and familiarity, and remembers enough context for a natural follow-up.</a:t>
            </a:r>
          </a:p>
        </p:txBody>
      </p:sp>
      <p:sp>
        <p:nvSpPr>
          <p:cNvPr id="7" name="problem-boundary">
            <a:extLst xmlns:a="http://schemas.openxmlformats.org/drawingml/2006/main">
              <a:ext uri="{FF2B5EF4-FFF2-40B4-BE49-F238E27FC236}">
                <a16:creationId xmlns:a16="http://schemas.microsoft.com/office/drawing/2014/main" id="{CC821992-677D-4F70-84D6-6436F538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0482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The prototype supports museum staff and interpretation; it does not replace either.</a:t>
            </a:r>
          </a:p>
        </p:txBody>
      </p:sp>
      <p:sp>
        <p:nvSpPr>
          <p:cNvPr id="8" name="footer-2">
            <a:extLst xmlns:a="http://schemas.openxmlformats.org/drawingml/2006/main">
              <a:ext uri="{FF2B5EF4-FFF2-40B4-BE49-F238E27FC236}">
                <a16:creationId xmlns:a16="http://schemas.microsoft.com/office/drawing/2014/main" id="{929FB290-17F7-4E13-8408-0667145F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TEAM TOUCHDOWN  |  WRO 2026 FUTURE INNOVATORS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1054641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-3">
            <a:extLst xmlns:a="http://schemas.openxmlformats.org/drawingml/2006/main">
              <a:ext uri="{FF2B5EF4-FFF2-40B4-BE49-F238E27FC236}">
                <a16:creationId xmlns:a16="http://schemas.microsoft.com/office/drawing/2014/main" id="{440ABD95-5B17-4354-B663-87C842FA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One natural interaction coordinates four systems.</a:t>
            </a:r>
          </a:p>
        </p:txBody>
      </p:sp>
      <p:sp>
        <p:nvSpPr>
          <p:cNvPr id="2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9D015F6E-1DBA-4414-9973-77BBDEB4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A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interaction-art-frame-0">
            <a:extLst xmlns:a="http://schemas.openxmlformats.org/drawingml/2006/main">
              <a:ext uri="{FF2B5EF4-FFF2-40B4-BE49-F238E27FC236}">
                <a16:creationId xmlns:a16="http://schemas.microsoft.com/office/drawing/2014/main" id="{BD07DE3F-42B3-4A73-93C3-0C70CB4A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486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ef4e2b7f44b90"/>
          <a:stretch xmlns:a="http://schemas.openxmlformats.org/drawingml/2006/main"/>
        </p:blipFill>
        <p:spPr>
          <a:xfrm xmlns:a="http://schemas.openxmlformats.org/drawingml/2006/main">
            <a:off x="609600" y="1822847"/>
            <a:ext cx="3333750" cy="1250156"/>
          </a:xfrm>
          <a:prstGeom xmlns:a="http://schemas.openxmlformats.org/drawingml/2006/main" prst="rect">
            <a:avLst/>
          </a:prstGeom>
        </p:spPr>
      </p:pic>
      <p:sp>
        <p:nvSpPr>
          <p:cNvPr id="5" name="interaction-art-frame-1">
            <a:extLst xmlns:a="http://schemas.openxmlformats.org/drawingml/2006/main">
              <a:ext uri="{FF2B5EF4-FFF2-40B4-BE49-F238E27FC236}">
                <a16:creationId xmlns:a16="http://schemas.microsoft.com/office/drawing/2014/main" id="{AE3AD114-D554-4EA5-A587-9529042D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14500"/>
            <a:ext cx="3486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82e08f37e4bc9"/>
          <a:stretch xmlns:a="http://schemas.openxmlformats.org/drawingml/2006/main"/>
        </p:blipFill>
        <p:spPr>
          <a:xfrm xmlns:a="http://schemas.openxmlformats.org/drawingml/2006/main">
            <a:off x="4419600" y="1822847"/>
            <a:ext cx="3333750" cy="1250156"/>
          </a:xfrm>
          <a:prstGeom xmlns:a="http://schemas.openxmlformats.org/drawingml/2006/main" prst="rect">
            <a:avLst/>
          </a:prstGeom>
        </p:spPr>
      </p:pic>
      <p:sp>
        <p:nvSpPr>
          <p:cNvPr id="7" name="interaction-art-frame-2">
            <a:extLst xmlns:a="http://schemas.openxmlformats.org/drawingml/2006/main">
              <a:ext uri="{FF2B5EF4-FFF2-40B4-BE49-F238E27FC236}">
                <a16:creationId xmlns:a16="http://schemas.microsoft.com/office/drawing/2014/main" id="{00639D41-1174-483A-978A-23CC2D61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14500"/>
            <a:ext cx="3486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38553e8ab4f80"/>
          <a:stretch xmlns:a="http://schemas.openxmlformats.org/drawingml/2006/main"/>
        </p:blipFill>
        <p:spPr>
          <a:xfrm xmlns:a="http://schemas.openxmlformats.org/drawingml/2006/main">
            <a:off x="8229600" y="1822847"/>
            <a:ext cx="3333750" cy="1250156"/>
          </a:xfrm>
          <a:prstGeom xmlns:a="http://schemas.openxmlformats.org/drawingml/2006/main" prst="rect">
            <a:avLst/>
          </a:prstGeom>
        </p:spPr>
      </p:pic>
      <p:sp>
        <p:nvSpPr>
          <p:cNvPr id="9" name="interaction-line">
            <a:extLst xmlns:a="http://schemas.openxmlformats.org/drawingml/2006/main">
              <a:ext uri="{FF2B5EF4-FFF2-40B4-BE49-F238E27FC236}">
                <a16:creationId xmlns:a16="http://schemas.microsoft.com/office/drawing/2014/main" id="{FD5F188F-C98A-4FA9-A530-E780824A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81475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dot-0">
            <a:extLst xmlns:a="http://schemas.openxmlformats.org/drawingml/2006/main">
              <a:ext uri="{FF2B5EF4-FFF2-40B4-BE49-F238E27FC236}">
                <a16:creationId xmlns:a16="http://schemas.microsoft.com/office/drawing/2014/main" id="{C6A78AF4-C81E-408F-B33A-726F65C7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AA23"/>
          </a:solidFill>
          <a:ln xmlns:a="http://schemas.openxmlformats.org/drawingml/2006/main" w="0">
            <a:solidFill>
              <a:srgbClr val="E2AA23"/>
            </a:solidFill>
            <a:prstDash val="solid"/>
          </a:ln>
        </p:spPr>
      </p:sp>
      <p:sp>
        <p:nvSpPr>
          <p:cNvPr id="11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C5D7FD61-F862-47A4-8075-38EF7409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5BDC04D4-9095-4D35-9D3D-EFD43C4E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LOOK</a:t>
            </a:r>
          </a:p>
        </p:txBody>
      </p:sp>
      <p:sp>
        <p:nvSpPr>
          <p:cNvPr id="13" name="step-body-0">
            <a:extLst xmlns:a="http://schemas.openxmlformats.org/drawingml/2006/main">
              <a:ext uri="{FF2B5EF4-FFF2-40B4-BE49-F238E27FC236}">
                <a16:creationId xmlns:a16="http://schemas.microsoft.com/office/drawing/2014/main" id="{5306FD51-D5FD-45C1-A559-605F3D77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Camera frames the artwork.</a:t>
            </a:r>
          </a:p>
        </p:txBody>
      </p:sp>
      <p:sp>
        <p:nvSpPr>
          <p:cNvPr id="14" name="step-dot-1">
            <a:extLst xmlns:a="http://schemas.openxmlformats.org/drawingml/2006/main">
              <a:ext uri="{FF2B5EF4-FFF2-40B4-BE49-F238E27FC236}">
                <a16:creationId xmlns:a16="http://schemas.microsoft.com/office/drawing/2014/main" id="{964E0358-48BA-41AA-96B4-70F85F83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AA23"/>
          </a:solidFill>
          <a:ln xmlns:a="http://schemas.openxmlformats.org/drawingml/2006/main" w="0">
            <a:solidFill>
              <a:srgbClr val="E2AA23"/>
            </a:solidFill>
            <a:prstDash val="solid"/>
          </a:ln>
        </p:spPr>
      </p:sp>
      <p:sp>
        <p:nvSpPr>
          <p:cNvPr id="15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85A6C348-80D1-49CD-8D05-7AA46AD2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40B79957-2D31-43A4-A01E-F59CA2E8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67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ASK</a:t>
            </a:r>
          </a:p>
        </p:txBody>
      </p:sp>
      <p:sp>
        <p:nvSpPr>
          <p:cNvPr id="17" name="step-body-1">
            <a:extLst xmlns:a="http://schemas.openxmlformats.org/drawingml/2006/main">
              <a:ext uri="{FF2B5EF4-FFF2-40B4-BE49-F238E27FC236}">
                <a16:creationId xmlns:a16="http://schemas.microsoft.com/office/drawing/2014/main" id="{396E530D-5849-4011-85B4-FA0B70D6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1054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Speech or manual capture starts a cycle.</a:t>
            </a:r>
          </a:p>
        </p:txBody>
      </p:sp>
      <p:sp>
        <p:nvSpPr>
          <p:cNvPr id="18" name="step-dot-2">
            <a:extLst xmlns:a="http://schemas.openxmlformats.org/drawingml/2006/main">
              <a:ext uri="{FF2B5EF4-FFF2-40B4-BE49-F238E27FC236}">
                <a16:creationId xmlns:a16="http://schemas.microsoft.com/office/drawing/2014/main" id="{2CE58629-A0EC-4B86-A7E8-49A7570C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AA23"/>
          </a:solidFill>
          <a:ln xmlns:a="http://schemas.openxmlformats.org/drawingml/2006/main" w="0">
            <a:solidFill>
              <a:srgbClr val="E2AA23"/>
            </a:solidFill>
            <a:prstDash val="solid"/>
          </a:ln>
        </p:spPr>
      </p:sp>
      <p:sp>
        <p:nvSpPr>
          <p:cNvPr id="19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79FCEAE6-E583-4895-8031-486DFD9E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290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55DAFC1-1EAB-45CA-A924-8CA28BB3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67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2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9A5D9AB1-3491-4318-B776-EC3A8CDB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054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Curated museum content comes first.</a:t>
            </a:r>
          </a:p>
        </p:txBody>
      </p:sp>
      <p:sp>
        <p:nvSpPr>
          <p:cNvPr id="22" name="step-dot-3">
            <a:extLst xmlns:a="http://schemas.openxmlformats.org/drawingml/2006/main">
              <a:ext uri="{FF2B5EF4-FFF2-40B4-BE49-F238E27FC236}">
                <a16:creationId xmlns:a16="http://schemas.microsoft.com/office/drawing/2014/main" id="{E5376F39-5373-46BC-AD6F-877F3FEF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AA23"/>
          </a:solidFill>
          <a:ln xmlns:a="http://schemas.openxmlformats.org/drawingml/2006/main" w="0">
            <a:solidFill>
              <a:srgbClr val="E2AA23"/>
            </a:solidFill>
            <a:prstDash val="solid"/>
          </a:ln>
        </p:spPr>
      </p:sp>
      <p:sp>
        <p:nvSpPr>
          <p:cNvPr id="23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BFD7029F-7835-4F5E-9A87-77383863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2907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584BD07E-8BCE-475A-8A4B-C5120D3F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67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LISTEN</a:t>
            </a:r>
          </a:p>
        </p:txBody>
      </p:sp>
      <p:sp>
        <p:nvSpPr>
          <p:cNvPr id="2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94B69B25-C3C1-48FD-B6CC-18F6C3FD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054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One response continues the conversation.</a:t>
            </a:r>
          </a:p>
        </p:txBody>
      </p:sp>
      <p:sp>
        <p:nvSpPr>
          <p:cNvPr id="26" name="footer-3">
            <a:extLst xmlns:a="http://schemas.openxmlformats.org/drawingml/2006/main">
              <a:ext uri="{FF2B5EF4-FFF2-40B4-BE49-F238E27FC236}">
                <a16:creationId xmlns:a16="http://schemas.microsoft.com/office/drawing/2014/main" id="{629BF60D-7936-4E37-ABE8-50DEE54D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TEAM TOUCHDOWN  |  WRO 2026 FUTURE INNOVATORS         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285606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4">
            <a:extLst xmlns:a="http://schemas.openxmlformats.org/drawingml/2006/main">
              <a:ext uri="{FF2B5EF4-FFF2-40B4-BE49-F238E27FC236}">
                <a16:creationId xmlns:a16="http://schemas.microsoft.com/office/drawing/2014/main" id="{1C2EF434-0470-471A-9297-85A0BDC7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The live demo tells one continuous story.</a:t>
            </a:r>
          </a:p>
        </p:txBody>
      </p:sp>
      <p:sp>
        <p:nvSpPr>
          <p:cNvPr id="2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34F50772-42AC-48BC-8E92-D205749C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A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emo-image-frame">
            <a:extLst xmlns:a="http://schemas.openxmlformats.org/drawingml/2006/main">
              <a:ext uri="{FF2B5EF4-FFF2-40B4-BE49-F238E27FC236}">
                <a16:creationId xmlns:a16="http://schemas.microsoft.com/office/drawing/2014/main" id="{2934A054-014E-47F2-9BA5-9584ED4F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895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1032941cf49aa"/>
          <a:stretch xmlns:a="http://schemas.openxmlformats.org/drawingml/2006/main"/>
        </p:blipFill>
        <p:spPr>
          <a:xfrm xmlns:a="http://schemas.openxmlformats.org/drawingml/2006/main">
            <a:off x="647700" y="2925366"/>
            <a:ext cx="4667250" cy="1750219"/>
          </a:xfrm>
          <a:prstGeom xmlns:a="http://schemas.openxmlformats.org/drawingml/2006/main" prst="rect">
            <a:avLst/>
          </a:prstGeom>
        </p:spPr>
      </p:pic>
      <p:sp>
        <p:nvSpPr>
          <p:cNvPr id="5" name="demo-index-0">
            <a:extLst xmlns:a="http://schemas.openxmlformats.org/drawingml/2006/main">
              <a:ext uri="{FF2B5EF4-FFF2-40B4-BE49-F238E27FC236}">
                <a16:creationId xmlns:a16="http://schemas.microsoft.com/office/drawing/2014/main" id="{CBE4C29A-03BC-420D-8544-2F8DBB04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478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2AA2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2AA2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emo-item-0">
            <a:extLst xmlns:a="http://schemas.openxmlformats.org/drawingml/2006/main">
              <a:ext uri="{FF2B5EF4-FFF2-40B4-BE49-F238E27FC236}">
                <a16:creationId xmlns:a16="http://schemas.microsoft.com/office/drawing/2014/main" id="{78B62D71-6945-43F6-BD40-FB4698D2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512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Start demo: vision, listening, and voice become ready together.</a:t>
            </a:r>
          </a:p>
        </p:txBody>
      </p:sp>
      <p:sp>
        <p:nvSpPr>
          <p:cNvPr id="7" name="demo-index-1">
            <a:extLst xmlns:a="http://schemas.openxmlformats.org/drawingml/2006/main">
              <a:ext uri="{FF2B5EF4-FFF2-40B4-BE49-F238E27FC236}">
                <a16:creationId xmlns:a16="http://schemas.microsoft.com/office/drawing/2014/main" id="{B5D11130-E6AC-47CB-B590-8BB3E1B5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67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2AA2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2AA2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demo-item-1">
            <a:extLst xmlns:a="http://schemas.openxmlformats.org/drawingml/2006/main">
              <a:ext uri="{FF2B5EF4-FFF2-40B4-BE49-F238E27FC236}">
                <a16:creationId xmlns:a16="http://schemas.microsoft.com/office/drawing/2014/main" id="{41A59548-1B7A-4005-AA48-110E5FC6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512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Hold Mona Lisa for five seconds or press the multifunction button.</a:t>
            </a:r>
          </a:p>
        </p:txBody>
      </p:sp>
      <p:sp>
        <p:nvSpPr>
          <p:cNvPr id="9" name="demo-index-2">
            <a:extLst xmlns:a="http://schemas.openxmlformats.org/drawingml/2006/main">
              <a:ext uri="{FF2B5EF4-FFF2-40B4-BE49-F238E27FC236}">
                <a16:creationId xmlns:a16="http://schemas.microsoft.com/office/drawing/2014/main" id="{98C9AC50-D47E-425D-A6B7-3FC1DCB9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86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2AA2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2AA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demo-item-2">
            <a:extLst xmlns:a="http://schemas.openxmlformats.org/drawingml/2006/main">
              <a:ext uri="{FF2B5EF4-FFF2-40B4-BE49-F238E27FC236}">
                <a16:creationId xmlns:a16="http://schemas.microsoft.com/office/drawing/2014/main" id="{A8F9B0BB-B300-4934-BF4A-A5926818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48050"/>
            <a:ext cx="512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Ask a follow-up without repeating the artist's name.</a:t>
            </a:r>
          </a:p>
        </p:txBody>
      </p:sp>
      <p:sp>
        <p:nvSpPr>
          <p:cNvPr id="11" name="demo-index-3">
            <a:extLst xmlns:a="http://schemas.openxmlformats.org/drawingml/2006/main">
              <a:ext uri="{FF2B5EF4-FFF2-40B4-BE49-F238E27FC236}">
                <a16:creationId xmlns:a16="http://schemas.microsoft.com/office/drawing/2014/main" id="{6EC12991-EC6C-4BE1-8DD7-38C03968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053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2AA2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2AA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demo-item-3">
            <a:extLst xmlns:a="http://schemas.openxmlformats.org/drawingml/2006/main">
              <a:ext uri="{FF2B5EF4-FFF2-40B4-BE49-F238E27FC236}">
                <a16:creationId xmlns:a16="http://schemas.microsoft.com/office/drawing/2014/main" id="{F976D503-BB98-4131-9140-742E7A33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512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Switch language verbally and keep one voice for the full answer.</a:t>
            </a:r>
          </a:p>
        </p:txBody>
      </p:sp>
      <p:sp>
        <p:nvSpPr>
          <p:cNvPr id="13" name="demo-index-4">
            <a:extLst xmlns:a="http://schemas.openxmlformats.org/drawingml/2006/main">
              <a:ext uri="{FF2B5EF4-FFF2-40B4-BE49-F238E27FC236}">
                <a16:creationId xmlns:a16="http://schemas.microsoft.com/office/drawing/2014/main" id="{2BB86AFF-9515-499C-A321-51F7AC93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244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E2AA2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E2AA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demo-item-4">
            <a:extLst xmlns:a="http://schemas.openxmlformats.org/drawingml/2006/main">
              <a:ext uri="{FF2B5EF4-FFF2-40B4-BE49-F238E27FC236}">
                <a16:creationId xmlns:a16="http://schemas.microsoft.com/office/drawing/2014/main" id="{933649F5-16CC-401C-A704-78FB7EB4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86350"/>
            <a:ext cx="5124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Route output to the judge speaker, then stop manually.</a:t>
            </a:r>
          </a:p>
        </p:txBody>
      </p:sp>
      <p:sp>
        <p:nvSpPr>
          <p:cNvPr id="15" name="footer-4">
            <a:extLst xmlns:a="http://schemas.openxmlformats.org/drawingml/2006/main">
              <a:ext uri="{FF2B5EF4-FFF2-40B4-BE49-F238E27FC236}">
                <a16:creationId xmlns:a16="http://schemas.microsoft.com/office/drawing/2014/main" id="{C74BFED0-A6C2-4C03-B520-3CBF2E01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TEAM TOUCHDOWN  |  WRO 2026 FUTURE INNOVATORS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257118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5">
            <a:extLst xmlns:a="http://schemas.openxmlformats.org/drawingml/2006/main">
              <a:ext uri="{FF2B5EF4-FFF2-40B4-BE49-F238E27FC236}">
                <a16:creationId xmlns:a16="http://schemas.microsoft.com/office/drawing/2014/main" id="{25477D63-0324-477D-83F1-FCCCA513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The Jetson coordinates vision, context, and voice.</a:t>
            </a:r>
          </a:p>
        </p:txBody>
      </p:sp>
      <p:sp>
        <p:nvSpPr>
          <p:cNvPr id="2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7E239C21-9DE5-4C05-B635-E30C7EB0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A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rchitecture-flow">
            <a:extLst xmlns:a="http://schemas.openxmlformats.org/drawingml/2006/main">
              <a:ext uri="{FF2B5EF4-FFF2-40B4-BE49-F238E27FC236}">
                <a16:creationId xmlns:a16="http://schemas.microsoft.com/office/drawing/2014/main" id="{7458934D-44C1-452A-9CA9-9C377EFA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0958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CAMERA</a:t>
            </a:r>
          </a:p>
          <a:p xmlns:a="http://schemas.openxmlformats.org/drawingml/2006/main">
            <a:pPr algn="ctr">
              <a:defRPr sz="2175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  ↓</a:t>
            </a:r>
          </a:p>
          <a:p xmlns:a="http://schemas.openxmlformats.org/drawingml/2006/main">
            <a:pPr algn="ctr">
              <a:defRPr sz="2175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ARTWORK TRACKER</a:t>
            </a:r>
          </a:p>
          <a:p xmlns:a="http://schemas.openxmlformats.org/drawingml/2006/main">
            <a:pPr algn="ctr">
              <a:defRPr sz="2175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  ↓</a:t>
            </a:r>
          </a:p>
          <a:p xmlns:a="http://schemas.openxmlformats.org/drawingml/2006/main">
            <a:pPr algn="ctr">
              <a:defRPr sz="2175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CURATED KNOWLEDGE + GEMINI</a:t>
            </a:r>
          </a:p>
          <a:p xmlns:a="http://schemas.openxmlformats.org/drawingml/2006/main">
            <a:pPr algn="ctr">
              <a:defRPr sz="2175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  ↓</a:t>
            </a:r>
          </a:p>
          <a:p xmlns:a="http://schemas.openxmlformats.org/drawingml/2006/main">
            <a:pPr algn="ctr">
              <a:defRPr sz="2175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VALIDATED RESPONSE</a:t>
            </a:r>
          </a:p>
          <a:p xmlns:a="http://schemas.openxmlformats.org/drawingml/2006/main">
            <a:pPr algn="ctr">
              <a:defRPr sz="2175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  ↓</a:t>
            </a:r>
          </a:p>
          <a:p xmlns:a="http://schemas.openxmlformats.org/drawingml/2006/main">
            <a:pPr algn="ctr">
              <a:defRPr sz="2175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VOICE + HEADSET</a:t>
            </a:r>
          </a:p>
        </p:txBody>
      </p:sp>
      <p:sp>
        <p:nvSpPr>
          <p:cNvPr id="4" name="architecture-panel">
            <a:extLst xmlns:a="http://schemas.openxmlformats.org/drawingml/2006/main">
              <a:ext uri="{FF2B5EF4-FFF2-40B4-BE49-F238E27FC236}">
                <a16:creationId xmlns:a16="http://schemas.microsoft.com/office/drawing/2014/main" id="{3EEF98A7-8128-4C61-A868-6EAFCF6D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52600"/>
            <a:ext cx="5448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1f1045227c4210"/>
          <a:stretch xmlns:a="http://schemas.openxmlformats.org/drawingml/2006/main"/>
        </p:blipFill>
        <p:spPr>
          <a:xfrm xmlns:a="http://schemas.openxmlformats.org/drawingml/2006/main">
            <a:off x="7905750" y="2410476"/>
            <a:ext cx="2000250" cy="1332198"/>
          </a:xfrm>
          <a:prstGeom xmlns:a="http://schemas.openxmlformats.org/drawingml/2006/main" prst="rect">
            <a:avLst/>
          </a:prstGeom>
        </p:spPr>
      </p:pic>
      <p:sp>
        <p:nvSpPr>
          <p:cNvPr id="6" name="architecture-local">
            <a:extLst xmlns:a="http://schemas.openxmlformats.org/drawingml/2006/main">
              <a:ext uri="{FF2B5EF4-FFF2-40B4-BE49-F238E27FC236}">
                <a16:creationId xmlns:a16="http://schemas.microsoft.com/office/drawing/2014/main" id="{27527A95-63F8-4C54-8BF2-8929CB3D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4667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 THE JETSON</a:t>
            </a:r>
          </a:p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Vision tracking</a:t>
            </a:r>
          </a:p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Session context</a:t>
            </a:r>
          </a:p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Curated retrieval</a:t>
            </a:r>
          </a:p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Controls and privacy-safe events</a:t>
            </a:r>
          </a:p>
        </p:txBody>
      </p:sp>
      <p:sp>
        <p:nvSpPr>
          <p:cNvPr id="7" name="architecture-cloud">
            <a:extLst xmlns:a="http://schemas.openxmlformats.org/drawingml/2006/main">
              <a:ext uri="{FF2B5EF4-FFF2-40B4-BE49-F238E27FC236}">
                <a16:creationId xmlns:a16="http://schemas.microsoft.com/office/drawing/2014/main" id="{0A8C2782-8625-4E48-B888-2C44C47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962650"/>
            <a:ext cx="5448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Configured speech and language providers may use cloud services.</a:t>
            </a:r>
          </a:p>
        </p:txBody>
      </p:sp>
      <p:sp>
        <p:nvSpPr>
          <p:cNvPr id="8" name="footer-5">
            <a:extLst xmlns:a="http://schemas.openxmlformats.org/drawingml/2006/main">
              <a:ext uri="{FF2B5EF4-FFF2-40B4-BE49-F238E27FC236}">
                <a16:creationId xmlns:a16="http://schemas.microsoft.com/office/drawing/2014/main" id="{EF0145D8-ED60-4CA9-BC99-95E7458A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TEAM TOUCHDOWN  |  WRO 2026 FUTURE INNOVATORS        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15458151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6">
            <a:extLst xmlns:a="http://schemas.openxmlformats.org/drawingml/2006/main">
              <a:ext uri="{FF2B5EF4-FFF2-40B4-BE49-F238E27FC236}">
                <a16:creationId xmlns:a16="http://schemas.microsoft.com/office/drawing/2014/main" id="{BECB1094-9C57-44FB-B782-BCF6EFD2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1125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The laptop release gate is green; hardware is next.</a:t>
            </a:r>
          </a:p>
        </p:txBody>
      </p:sp>
      <p:sp>
        <p:nvSpPr>
          <p:cNvPr id="2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2D650430-8565-4123-8130-16702D44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A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vidence-intro">
            <a:extLst xmlns:a="http://schemas.openxmlformats.org/drawingml/2006/main">
              <a:ext uri="{FF2B5EF4-FFF2-40B4-BE49-F238E27FC236}">
                <a16:creationId xmlns:a16="http://schemas.microsoft.com/office/drawing/2014/main" id="{F493D8D8-A195-436E-880D-00F16C5A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The new controls, dashboard views, public site, and artwork release gate were verified before Jetson deployment.</a:t>
            </a:r>
          </a:p>
        </p:txBody>
      </p:sp>
      <p:sp>
        <p:nvSpPr>
          <p:cNvPr id="4" name="metric-panel-0">
            <a:extLst xmlns:a="http://schemas.openxmlformats.org/drawingml/2006/main">
              <a:ext uri="{FF2B5EF4-FFF2-40B4-BE49-F238E27FC236}">
                <a16:creationId xmlns:a16="http://schemas.microsoft.com/office/drawing/2014/main" id="{BD7F2D5E-C624-4DE3-8BD1-1B51FF3C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3505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1B1B2A35-9C32-4B04-9244-E5BB527A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2971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303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52C3E1EF-65BC-492C-A892-E7F6A805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automated tests passed</a:t>
            </a:r>
          </a:p>
        </p:txBody>
      </p:sp>
      <p:sp>
        <p:nvSpPr>
          <p:cNvPr id="7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41B0FC11-18D5-42D0-8622-4EFD6933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505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9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73903FCD-D482-4802-901E-61072A8D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38450"/>
            <a:ext cx="2971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22BB8F33-937F-4A0F-BBCE-7C0CCA0F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433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artwork labels validated</a:t>
            </a:r>
          </a:p>
        </p:txBody>
      </p:sp>
      <p:sp>
        <p:nvSpPr>
          <p:cNvPr id="10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C659CE80-5DBB-46DD-8B4F-318ED232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35052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4896809B-2ED8-4C05-8240-923DF6A4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2971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82F21099-5DCD-4148-8DB5-E98B1A3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91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91B"/>
                </a:solidFill>
                <a:latin typeface="Arial"/>
                <a:ea typeface="Arial"/>
                <a:cs typeface="Arial"/>
              </a:rPr>
              <a:t>rollback-capable deploy command</a:t>
            </a:r>
          </a:p>
        </p:txBody>
      </p:sp>
      <p:sp>
        <p:nvSpPr>
          <p:cNvPr id="13" name="evidence-next">
            <a:extLst xmlns:a="http://schemas.openxmlformats.org/drawingml/2006/main">
              <a:ext uri="{FF2B5EF4-FFF2-40B4-BE49-F238E27FC236}">
                <a16:creationId xmlns:a16="http://schemas.microsoft.com/office/drawing/2014/main" id="{25D6396D-C5A6-4C62-8613-FF9911FF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3F3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3F3C"/>
                </a:solidFill>
                <a:latin typeface="Arial"/>
                <a:ea typeface="Arial"/>
                <a:cs typeface="Arial"/>
              </a:rPr>
              <a:t>PHYSICAL ACCEPTANCE: real audio routing • Piper continuity • camera reconnect and FPS • five-second recognition • manual capture • emergency stop</a:t>
            </a:r>
          </a:p>
        </p:txBody>
      </p:sp>
      <p:sp>
        <p:nvSpPr>
          <p:cNvPr id="14" name="footer-6">
            <a:extLst xmlns:a="http://schemas.openxmlformats.org/drawingml/2006/main">
              <a:ext uri="{FF2B5EF4-FFF2-40B4-BE49-F238E27FC236}">
                <a16:creationId xmlns:a16="http://schemas.microsoft.com/office/drawing/2014/main" id="{9BD94FEE-A069-4D17-994B-59E32C68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1112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B666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B6668"/>
                </a:solidFill>
                <a:latin typeface="Arial"/>
                <a:ea typeface="Arial"/>
                <a:cs typeface="Arial"/>
              </a:rPr>
              <a:t>TEAM TOUCHDOWN  |  WRO 2026 FUTURE INNOVATORS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1933016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3F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2B73C339-F288-49AA-9534-85F7E842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2AA2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2AA23"/>
                </a:solidFill>
                <a:latin typeface="Arial"/>
                <a:ea typeface="Arial"/>
                <a:cs typeface="Arial"/>
              </a:rPr>
              <a:t>ATLAS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7A58134B-B0D2-4C7D-B9F0-DEB48216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ATLAS helps the next question happen.</a:t>
            </a:r>
          </a:p>
        </p:txBody>
      </p:sp>
      <p:sp>
        <p:nvSpPr>
          <p:cNvPr id="3" name="closing-art-field">
            <a:extLst xmlns:a="http://schemas.openxmlformats.org/drawingml/2006/main">
              <a:ext uri="{FF2B5EF4-FFF2-40B4-BE49-F238E27FC236}">
                <a16:creationId xmlns:a16="http://schemas.microsoft.com/office/drawing/2014/main" id="{5602B084-ECB2-407C-9B5B-C0CBA22C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50292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f2b3a79974c99"/>
          <a:stretch xmlns:a="http://schemas.openxmlformats.org/drawingml/2006/main"/>
        </p:blipFill>
        <p:spPr>
          <a:xfrm xmlns:a="http://schemas.openxmlformats.org/drawingml/2006/main">
            <a:off x="4820848" y="3238500"/>
            <a:ext cx="2550304" cy="2514600"/>
          </a:xfrm>
          <a:prstGeom xmlns:a="http://schemas.openxmlformats.org/drawingml/2006/main" prst="rect">
            <a:avLst/>
          </a:prstGeom>
        </p:spPr>
      </p:pic>
      <p:sp>
        <p:nvSpPr>
          <p:cNvPr id="5" name="closing-team">
            <a:extLst xmlns:a="http://schemas.openxmlformats.org/drawingml/2006/main">
              <a:ext uri="{FF2B5EF4-FFF2-40B4-BE49-F238E27FC236}">
                <a16:creationId xmlns:a16="http://schemas.microsoft.com/office/drawing/2014/main" id="{73BDFA08-628C-45D3-8CF7-2C68BA0E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7E1D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7E1DE"/>
                </a:solidFill>
                <a:latin typeface="Arial"/>
                <a:ea typeface="Arial"/>
                <a:cs typeface="Arial"/>
              </a:rPr>
              <a:t>TEAM TOUCHDOWN  |  COLLEGE BOURGET  |  WRO 2026 FUTURE INNOVATORS</a:t>
            </a:r>
          </a:p>
        </p:txBody>
      </p:sp>
    </p:spTree>
    <p:extLst>
      <p:ext uri="{BB962C8B-B14F-4D97-AF65-F5344CB8AC3E}">
        <p14:creationId xmlns:p14="http://schemas.microsoft.com/office/powerpoint/2010/main" val="795422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2026-08-30T19:41:08.4670000Z</dcterms:created>
  <dcterms:modified xsi:type="dcterms:W3CDTF">2026-08-30T19:41:08.4670000Z</dcterms:modified>
</coreProperties>
</file>